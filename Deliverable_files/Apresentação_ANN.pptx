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80" r:id="rId5"/>
    <p:sldId id="286" r:id="rId6"/>
    <p:sldId id="281" r:id="rId7"/>
    <p:sldId id="287" r:id="rId8"/>
    <p:sldId id="289" r:id="rId9"/>
    <p:sldId id="288" r:id="rId10"/>
    <p:sldId id="290" r:id="rId11"/>
    <p:sldId id="291" r:id="rId12"/>
    <p:sldId id="292" r:id="rId13"/>
    <p:sldId id="293" r:id="rId14"/>
    <p:sldId id="295" r:id="rId15"/>
    <p:sldId id="298" r:id="rId16"/>
    <p:sldId id="296" r:id="rId17"/>
    <p:sldId id="297" r:id="rId18"/>
    <p:sldId id="285" r:id="rId19"/>
    <p:sldId id="278" r:id="rId20"/>
    <p:sldId id="259" r:id="rId21"/>
    <p:sldId id="261" r:id="rId22"/>
    <p:sldId id="276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7" r:id="rId35"/>
    <p:sldId id="273" r:id="rId36"/>
    <p:sldId id="274" r:id="rId37"/>
    <p:sldId id="275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625" autoAdjust="0"/>
  </p:normalViewPr>
  <p:slideViewPr>
    <p:cSldViewPr snapToGrid="0">
      <p:cViewPr>
        <p:scale>
          <a:sx n="100" d="100"/>
          <a:sy n="100" d="100"/>
        </p:scale>
        <p:origin x="9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481AB-FBE9-BACF-27BB-61B5EA421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10512B-443C-6A67-320F-CA2FF93A6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753D1-F0AC-7C65-124D-6A1179EB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76224B-99D5-2BE4-6B2F-5F29A668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04E6AA-D194-9E04-F36E-6B9DBFDF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84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B6248-34AB-DCCE-05B4-046E1622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5C400-89DF-0225-FEAB-13B9D0A6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2D5CB4-FE18-8323-FA16-AFA8AC7C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DDFED4-315D-9F17-AFA2-27A20E46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99E213-06A9-AF10-8D49-27691E36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81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7663F-FC1D-AC13-B403-AB64184F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1457A8-D7E7-B12E-8AC8-F9127DD28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87812-C249-AFF5-73CE-7D7230D9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4708BC-8AD5-0C29-1248-F02F4E33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6720E1-47AC-B658-8F4F-ACC9C222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2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4E445-85DF-17EE-56D7-250D3CFE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CB131-4E5C-73F9-0627-C11CB2B4B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2186AC-8140-F114-A64E-6A6771EC8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B6E25E-50A7-8572-83D6-C44E09AC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E138AD-4965-3DFE-3F5F-F45D6005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4A78D7-EB51-B826-DC72-A7BFD2BC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7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12D89-478A-6FC5-ADF1-0FC247D9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498244-559F-8562-034A-C5F3469EB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F07790-414E-8894-B26B-7F4888208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35FE5F-25D8-3D9F-7D69-BABD22275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76090A-6084-A215-721C-F335E24D1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C8747D-BAF9-2345-6C9C-06F346A5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05F6B5-21FB-FAD1-C540-8A3A9ADE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5C24E5-47E4-81AA-254D-E2BC885C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09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598AC-67A9-C003-C8E3-48C5713D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4A789F-25F6-5B0E-11FB-802484BF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F2F729-7EFA-2EBF-7A3D-C7145B93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9D086F-B7CD-0CA8-72FE-BA88F3AB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78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026568-C8C8-08DB-0FC9-6B5ACC695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C1AEDC-E945-768E-5BE7-E6F9D064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B8642B-59A4-E257-CE88-D54991FF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85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FEAF9-5A65-A0F2-57F2-2B0ABCC3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994C42-73B6-EEDC-E7BB-ADDEA9B6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A37AF1-DE2C-6DEE-1DE0-AE0364B5F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296734-CD77-D98C-1316-834F2DBC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C55519-A839-4722-19F0-517B121B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9A641D-DAD8-C2FD-D928-C0AA7BA4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68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A4E33-2310-4064-F005-342D6607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F8C6DE-F13C-0B24-69FD-0D759A640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7E8379-4990-D29C-F867-FBAA3CC20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3F2642-B740-F2CC-6B8A-58E736D9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381FFB-D9AD-4699-CFED-6161E977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179573-1AFD-8776-A0B8-1A9F1629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16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BA95D-600C-76A9-4CC6-BCFCB2C8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5371C3-6FFA-CF5F-C11C-0769467F3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16971-8E25-3A8D-B8D6-0C153BDE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DDA124-4745-AE5B-4C24-0774D768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8F3BDF-4647-A93A-2ECC-EDEF4CC0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03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616399-68D1-C4E3-5939-F17A9B4D1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739431-292D-CABE-4D0A-14C01B7C4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7E107-DC65-B38B-AB73-054D99D4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AAB68E-B42B-BF55-8117-2449A542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447095-DFA8-D9DE-F353-A9C0823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89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562100-D7DA-9E34-1904-948F826C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137B0F-96C1-B3B0-50F8-9C93FB37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D36EEC-7D89-90FF-7EB1-7117173E7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1B490-0B4A-4A97-BA1E-27D461449C1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FF5120-E320-E2E9-CD9C-C4D0C9AB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99F349-78D6-F6BB-C74B-0919D8B7F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88558-6E0E-454B-B50D-4EE3F3CBD1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80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0C6DE-14DA-7E2F-1E70-E439704E8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Projeto 2 do Curso: IA Aplicada a Problemas de Engenharia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A59C39-0838-2B72-38E3-2FC92D818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2988" y="4185958"/>
            <a:ext cx="9646024" cy="1803680"/>
          </a:xfrm>
        </p:spPr>
        <p:txBody>
          <a:bodyPr>
            <a:normAutofit fontScale="85000" lnSpcReduction="20000"/>
          </a:bodyPr>
          <a:lstStyle/>
          <a:p>
            <a:br>
              <a:rPr lang="en-US" dirty="0"/>
            </a:br>
            <a:r>
              <a:rPr lang="en-US" dirty="0"/>
              <a:t>Gabriel Silva 235038</a:t>
            </a:r>
          </a:p>
          <a:p>
            <a:r>
              <a:rPr lang="en-US" dirty="0"/>
              <a:t>Luis Felipe Oliveira Santos 299675</a:t>
            </a:r>
          </a:p>
          <a:p>
            <a:r>
              <a:rPr lang="en-US" dirty="0"/>
              <a:t>Yan de Miranda Zimmermann Lobo 195649</a:t>
            </a:r>
          </a:p>
          <a:p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828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8CF5-9015-5405-4A9A-58DB5766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46703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O </a:t>
            </a:r>
            <a:r>
              <a:rPr lang="pt-BR" dirty="0" err="1"/>
              <a:t>Dropout</a:t>
            </a:r>
            <a:r>
              <a:rPr lang="pt-BR" dirty="0"/>
              <a:t> pode ser definido como um método de regularização. Ele introduz um </a:t>
            </a:r>
            <a:r>
              <a:rPr lang="pt-BR" dirty="0" err="1"/>
              <a:t>hiperparâmetro</a:t>
            </a:r>
            <a:r>
              <a:rPr lang="pt-BR" dirty="0"/>
              <a:t> </a:t>
            </a:r>
            <a:r>
              <a:rPr lang="pt-BR" i="1" dirty="0"/>
              <a:t>r</a:t>
            </a:r>
            <a:r>
              <a:rPr lang="pt-BR" dirty="0"/>
              <a:t> que representa a fração de saídas que serão zeradas durante cada passo de treinamento.  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Para uma entrada de ativação </a:t>
            </a:r>
            <a:r>
              <a:rPr lang="pt-BR" i="1" dirty="0"/>
              <a:t>x</a:t>
            </a:r>
            <a:r>
              <a:rPr lang="pt-BR" dirty="0"/>
              <a:t> na camada onde se aplica </a:t>
            </a:r>
            <a:r>
              <a:rPr lang="pt-BR" dirty="0" err="1"/>
              <a:t>dropout</a:t>
            </a:r>
            <a:r>
              <a:rPr lang="pt-BR" dirty="0"/>
              <a:t>, define-se uma máscara binária amostrada de uma distribuição Bernoulli com parâmetro 1-</a:t>
            </a:r>
            <a:r>
              <a:rPr lang="pt-BR" i="1" dirty="0"/>
              <a:t>r.</a:t>
            </a:r>
            <a:endParaRPr lang="pt-BR" dirty="0"/>
          </a:p>
          <a:p>
            <a:pPr algn="just">
              <a:lnSpc>
                <a:spcPct val="100000"/>
              </a:lnSpc>
            </a:pPr>
            <a:endParaRPr lang="pt-BR" sz="2400" dirty="0">
              <a:latin typeface="Century Gothic" panose="020B0502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8B90B4-12A4-471B-B5FC-1F7537F50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05" y="4500643"/>
            <a:ext cx="2032016" cy="13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0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Implementação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622735C-FB28-49B4-92B6-CC2BBDA53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5161"/>
            <a:ext cx="10515600" cy="346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8CF5-9015-5405-4A9A-58DB5766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primeira etapa da análise foi conduzida utilizando a função seno abaixo: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dirty="0"/>
              <a:t>Os experimentos foram organizados de forma sequencial:</a:t>
            </a:r>
            <a:endParaRPr lang="pt-BR" sz="24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pt-BR" sz="1800" dirty="0"/>
              <a:t>Treinamento utilizando apenas o </a:t>
            </a:r>
            <a:r>
              <a:rPr lang="pt-BR" sz="1800" dirty="0" err="1"/>
              <a:t>otimizador</a:t>
            </a:r>
            <a:r>
              <a:rPr lang="pt-BR" sz="1800" dirty="0"/>
              <a:t> básico (SGD).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pt-BR" sz="1800" dirty="0"/>
              <a:t>Aplicação de </a:t>
            </a:r>
            <a:r>
              <a:rPr lang="pt-BR" sz="1800" dirty="0" err="1"/>
              <a:t>learning</a:t>
            </a:r>
            <a:r>
              <a:rPr lang="pt-BR" sz="1800" dirty="0"/>
              <a:t> rate </a:t>
            </a:r>
            <a:r>
              <a:rPr lang="pt-BR" sz="1800" dirty="0" err="1"/>
              <a:t>decay</a:t>
            </a:r>
            <a:r>
              <a:rPr lang="pt-BR" sz="1800" dirty="0"/>
              <a:t> para analisar sua influência na estabilidade da convergência.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pt-BR" sz="1800" dirty="0"/>
              <a:t>Inclusão do termo de momentum no processo de otimização.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/>
              <a:t>Aplicação do </a:t>
            </a:r>
            <a:r>
              <a:rPr lang="pt-BR" sz="1800" dirty="0" err="1"/>
              <a:t>dropout</a:t>
            </a:r>
            <a:r>
              <a:rPr lang="pt-BR" sz="1800" dirty="0"/>
              <a:t>, com variação das taxas e da posição das camadas em que foi inserido.</a:t>
            </a:r>
            <a:endParaRPr lang="pt-BR" sz="1600" dirty="0"/>
          </a:p>
          <a:p>
            <a:r>
              <a:rPr lang="pt-BR" sz="2000" dirty="0"/>
              <a:t>A rede para essa função foi montada com 2 camadas ocultas, com 100 e 50 neurônios, na primeira e segunda respectivamente. A função de ativação </a:t>
            </a:r>
            <a:r>
              <a:rPr lang="pt-BR" sz="2000" dirty="0" err="1"/>
              <a:t>Leaky_ReLU</a:t>
            </a:r>
            <a:r>
              <a:rPr lang="pt-BR" sz="2000" dirty="0"/>
              <a:t> foi utilizada na primeira e </a:t>
            </a:r>
            <a:r>
              <a:rPr lang="pt-BR" sz="2000" dirty="0" err="1"/>
              <a:t>ReLU</a:t>
            </a:r>
            <a:r>
              <a:rPr lang="pt-BR" sz="2000" dirty="0"/>
              <a:t> na segunda.</a:t>
            </a:r>
          </a:p>
          <a:p>
            <a:pPr marL="342900" indent="-342900">
              <a:buFont typeface="+mj-lt"/>
              <a:buAutoNum type="arabicPeriod"/>
            </a:pPr>
            <a:endParaRPr lang="pt-BR" sz="22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E844D7D-12D7-496D-AA48-1FD68AEEE538}"/>
              </a:ext>
            </a:extLst>
          </p:cNvPr>
          <p:cNvSpPr txBox="1">
            <a:spLocks/>
          </p:cNvSpPr>
          <p:nvPr/>
        </p:nvSpPr>
        <p:spPr>
          <a:xfrm>
            <a:off x="838200" y="3740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Experimentos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005A0C-4985-4195-A5A9-75E44F1A4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753" y="2617227"/>
            <a:ext cx="2098494" cy="70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6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8CF5-9015-5405-4A9A-58DB5766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400" dirty="0"/>
              <a:t>A segunda da análise foi conduzida utilizando a seguinte função: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algn="just"/>
            <a:r>
              <a:rPr lang="pt-BR" sz="2400" dirty="0"/>
              <a:t>Essa função foi adotada porque, nos testes preliminares sem </a:t>
            </a:r>
            <a:r>
              <a:rPr lang="pt-BR" sz="2400" i="1" dirty="0" err="1"/>
              <a:t>dropout</a:t>
            </a:r>
            <a:r>
              <a:rPr lang="pt-BR" sz="2400" dirty="0"/>
              <a:t>, levou à obtenção de perda de teste igual a zero, caracterizando um caso de </a:t>
            </a:r>
            <a:r>
              <a:rPr lang="pt-BR" sz="2400" i="1" dirty="0" err="1"/>
              <a:t>overfitting</a:t>
            </a:r>
            <a:r>
              <a:rPr lang="pt-BR" sz="2400" i="1" dirty="0"/>
              <a:t> </a:t>
            </a:r>
            <a:r>
              <a:rPr lang="pt-BR" sz="2400" dirty="0"/>
              <a:t>extremo</a:t>
            </a:r>
            <a:r>
              <a:rPr lang="pt-BR" sz="2400" i="1" dirty="0"/>
              <a:t>.</a:t>
            </a:r>
            <a:r>
              <a:rPr lang="pt-BR" sz="2400" dirty="0"/>
              <a:t> Justamente por isso, essa função e essa arquitetura foram </a:t>
            </a:r>
            <a:r>
              <a:rPr lang="pt-BR" sz="2400" dirty="0" err="1"/>
              <a:t>escolhidass</a:t>
            </a:r>
            <a:r>
              <a:rPr lang="pt-BR" sz="2400" dirty="0"/>
              <a:t> como base para analisar, de forma mais clara, o impacto da aplicação do </a:t>
            </a:r>
            <a:r>
              <a:rPr lang="pt-BR" sz="2400" i="1" dirty="0" err="1"/>
              <a:t>dropout</a:t>
            </a:r>
            <a:r>
              <a:rPr lang="pt-BR" sz="2400" dirty="0"/>
              <a:t> em um cenário onde a rede tem alta capacidade de memorização.</a:t>
            </a:r>
          </a:p>
          <a:p>
            <a:pPr algn="just"/>
            <a:r>
              <a:rPr lang="pt-BR" sz="2400" dirty="0"/>
              <a:t>A rede para essa função foi montada com 3 camadas ocultas, com 50 neurônios em cada. A função de ativação </a:t>
            </a:r>
            <a:r>
              <a:rPr lang="pt-BR" sz="2400" dirty="0" err="1"/>
              <a:t>Leaky_ReLU</a:t>
            </a:r>
            <a:r>
              <a:rPr lang="pt-BR" sz="2400" dirty="0"/>
              <a:t> foi utilizada na primeira e ultima camada, e a </a:t>
            </a:r>
            <a:r>
              <a:rPr lang="pt-BR" sz="2400" dirty="0" err="1"/>
              <a:t>Tanh</a:t>
            </a:r>
            <a:r>
              <a:rPr lang="pt-BR" sz="2400" dirty="0"/>
              <a:t> na intermediaria.</a:t>
            </a:r>
          </a:p>
          <a:p>
            <a:pPr marL="0" indent="0">
              <a:buNone/>
            </a:pPr>
            <a:br>
              <a:rPr lang="pt-BR" sz="2400" dirty="0"/>
            </a:br>
            <a:endParaRPr lang="pt-BR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E844D7D-12D7-496D-AA48-1FD68AEEE538}"/>
              </a:ext>
            </a:extLst>
          </p:cNvPr>
          <p:cNvSpPr txBox="1">
            <a:spLocks/>
          </p:cNvSpPr>
          <p:nvPr/>
        </p:nvSpPr>
        <p:spPr>
          <a:xfrm>
            <a:off x="838200" y="3740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Experimentos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D4F7410-D3A7-4441-873D-D8FB1B34F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171" y="2401948"/>
            <a:ext cx="2655658" cy="61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6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Primeira função sem </a:t>
            </a:r>
            <a:r>
              <a:rPr lang="pt-BR" sz="3200" dirty="0" err="1">
                <a:latin typeface="Century Gothic" panose="020B0502020202020204" pitchFamily="34" charset="0"/>
              </a:rPr>
              <a:t>Dropout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60EB26BA-2C82-4BBB-9615-85D17FAC68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3623"/>
            <a:ext cx="4759006" cy="372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41E4818D-B506-451F-B7E2-91E68A63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62945"/>
            <a:ext cx="5132294" cy="411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35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Primeira função sem </a:t>
            </a:r>
            <a:r>
              <a:rPr lang="pt-BR" sz="3200" dirty="0" err="1">
                <a:latin typeface="Century Gothic" panose="020B0502020202020204" pitchFamily="34" charset="0"/>
              </a:rPr>
              <a:t>Dropout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F80466F-12FA-4DAA-B96E-4EAF2214F1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552" y="1798731"/>
            <a:ext cx="70457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29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800" dirty="0">
                <a:latin typeface="Century Gothic" panose="020B0502020202020204" pitchFamily="34" charset="0"/>
              </a:rPr>
              <a:t>Primeira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0.2 na primeira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C303AADF-55B7-45A4-9365-226A9E14B9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84" y="1762945"/>
            <a:ext cx="5142366" cy="402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ECCC7AB5-4D83-4591-B1C6-50CC9AE24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142366" cy="402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43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800" dirty="0">
                <a:latin typeface="Century Gothic" panose="020B0502020202020204" pitchFamily="34" charset="0"/>
              </a:rPr>
              <a:t>Primeira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0.2 na primeira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50AB7903-38AB-4359-8DFC-0B0BE32418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895" y="1690688"/>
            <a:ext cx="70104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16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800" dirty="0">
                <a:latin typeface="Century Gothic" panose="020B0502020202020204" pitchFamily="34" charset="0"/>
              </a:rPr>
              <a:t>Primeira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0.2 em todas camadas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80D0B433-8374-43C8-9BD7-83FA574723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60" y="1690688"/>
            <a:ext cx="5142367" cy="399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FA2DD4FA-D025-47E9-A239-A6EC07C66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875" y="1690688"/>
            <a:ext cx="4640713" cy="373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55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800" dirty="0">
                <a:latin typeface="Century Gothic" panose="020B0502020202020204" pitchFamily="34" charset="0"/>
              </a:rPr>
              <a:t>Primeira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0.2 na primeira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592303D0-66DF-48BB-B4A1-67AF4DB5CB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2" y="1791494"/>
            <a:ext cx="73818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04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Sem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7D21A811-8BAC-423E-9065-6B0883C4D7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16" y="1832006"/>
            <a:ext cx="4538122" cy="359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B99DB491-2993-47D0-8FAE-C08BFE91C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756" y="1845453"/>
            <a:ext cx="4687421" cy="365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73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Sem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4BACEB27-65D4-4AB0-9015-8C6AF86154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7" y="1835758"/>
            <a:ext cx="5153025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29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com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F4335C95-85B4-4599-AA4A-904C282C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93" y="2209521"/>
            <a:ext cx="47339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6" name="Picture 10">
            <a:extLst>
              <a:ext uri="{FF2B5EF4-FFF2-40B4-BE49-F238E27FC236}">
                <a16:creationId xmlns:a16="http://schemas.microsoft.com/office/drawing/2014/main" id="{E9F44890-ECB4-4DA5-A19B-059E1F8D20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10" y="2432645"/>
            <a:ext cx="5215778" cy="358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7B5ED94-8937-4B09-AE1A-6E2837C2D431}"/>
              </a:ext>
            </a:extLst>
          </p:cNvPr>
          <p:cNvSpPr txBox="1"/>
          <p:nvPr/>
        </p:nvSpPr>
        <p:spPr>
          <a:xfrm>
            <a:off x="1851212" y="5929874"/>
            <a:ext cx="2442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0.2 na primeira camada</a:t>
            </a:r>
            <a:endParaRPr lang="en-U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4DAB86A-EB3D-4D30-B29D-C4CBBE335570}"/>
              </a:ext>
            </a:extLst>
          </p:cNvPr>
          <p:cNvSpPr txBox="1"/>
          <p:nvPr/>
        </p:nvSpPr>
        <p:spPr>
          <a:xfrm>
            <a:off x="7400363" y="5929874"/>
            <a:ext cx="2675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0.2 em todas as camadas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13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com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0.8 na primeira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21512" name="Picture 8">
            <a:extLst>
              <a:ext uri="{FF2B5EF4-FFF2-40B4-BE49-F238E27FC236}">
                <a16:creationId xmlns:a16="http://schemas.microsoft.com/office/drawing/2014/main" id="{4AAFC015-850B-40FA-86A8-92C192B1E4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084" y="1995861"/>
            <a:ext cx="4906775" cy="392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6" name="Picture 12">
            <a:extLst>
              <a:ext uri="{FF2B5EF4-FFF2-40B4-BE49-F238E27FC236}">
                <a16:creationId xmlns:a16="http://schemas.microsoft.com/office/drawing/2014/main" id="{C2C8671D-1E13-4376-908E-71D75B464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33" y="1995861"/>
            <a:ext cx="4906775" cy="384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092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na ultima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ECD92179-81C2-43DC-A07D-15A97DBB55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61" y="2015965"/>
            <a:ext cx="4763060" cy="376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F06B9D22-B50C-4D0B-82E3-A233829E4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17796"/>
            <a:ext cx="4885765" cy="386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013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Resultados – </a:t>
            </a:r>
            <a:r>
              <a:rPr lang="pt-BR" sz="2700" dirty="0">
                <a:latin typeface="Century Gothic" panose="020B0502020202020204" pitchFamily="34" charset="0"/>
              </a:rPr>
              <a:t>Segunda função </a:t>
            </a:r>
            <a:r>
              <a:rPr lang="pt-BR" sz="2700" dirty="0" err="1">
                <a:latin typeface="Century Gothic" panose="020B0502020202020204" pitchFamily="34" charset="0"/>
              </a:rPr>
              <a:t>Dropout</a:t>
            </a:r>
            <a:r>
              <a:rPr lang="pt-BR" sz="2700" dirty="0">
                <a:latin typeface="Century Gothic" panose="020B0502020202020204" pitchFamily="34" charset="0"/>
              </a:rPr>
              <a:t> na ultima camada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581BCCFE-1713-4A30-BEB5-016FD1ED67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912" y="1915319"/>
            <a:ext cx="52101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92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1: Rede Neural e </a:t>
            </a:r>
            <a:r>
              <a:rPr lang="pt-BR" dirty="0" err="1">
                <a:latin typeface="Century Gothic" panose="020B0502020202020204" pitchFamily="34" charset="0"/>
              </a:rPr>
              <a:t>Dropout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Conclusão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8CF5-9015-5405-4A9A-58DB5766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pt-BR" dirty="0"/>
              <a:t>Conseguiu reduzir o </a:t>
            </a:r>
            <a:r>
              <a:rPr lang="pt-BR" dirty="0" err="1"/>
              <a:t>overfitting</a:t>
            </a:r>
            <a:r>
              <a:rPr lang="pt-BR" dirty="0"/>
              <a:t> para as funções suaves e determinísticas testadas nesse trabalho.</a:t>
            </a:r>
          </a:p>
          <a:p>
            <a:pPr algn="just">
              <a:lnSpc>
                <a:spcPct val="100000"/>
              </a:lnSpc>
            </a:pPr>
            <a:r>
              <a:rPr lang="pt-BR" dirty="0"/>
              <a:t>Introduziu mais incerteza na perda, deixando ela ruidosa. </a:t>
            </a:r>
          </a:p>
          <a:p>
            <a:pPr algn="just">
              <a:lnSpc>
                <a:spcPct val="100000"/>
              </a:lnSpc>
            </a:pPr>
            <a:r>
              <a:rPr lang="pt-BR" dirty="0" err="1"/>
              <a:t>Dropout</a:t>
            </a:r>
            <a:r>
              <a:rPr lang="pt-BR" dirty="0"/>
              <a:t> </a:t>
            </a:r>
            <a:r>
              <a:rPr lang="pt-BR" b="1" dirty="0"/>
              <a:t>não deve ser usado como regularizador padrão</a:t>
            </a:r>
            <a:r>
              <a:rPr lang="pt-BR" dirty="0"/>
              <a:t>. Ele por si só pode comprometer o modelo. É interessante fazer sua aplicação </a:t>
            </a:r>
            <a:r>
              <a:rPr lang="pt-BR" b="1" dirty="0"/>
              <a:t>em conjunto com outras técnicas</a:t>
            </a:r>
            <a:r>
              <a:rPr lang="pt-BR" dirty="0"/>
              <a:t>, para que atue como componente complementar.</a:t>
            </a:r>
          </a:p>
          <a:p>
            <a:pPr algn="just">
              <a:lnSpc>
                <a:spcPct val="100000"/>
              </a:lnSpc>
            </a:pPr>
            <a:endParaRPr lang="pt-BR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482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CE40-D3B8-1D22-E113-AC4126E2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Método</a:t>
            </a:r>
            <a:endParaRPr lang="pt-BR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1508CF5-9015-5405-4A9A-58DB57665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pt-BR" sz="2400" dirty="0">
                    <a:latin typeface="Century Gothic" panose="020B0502020202020204" pitchFamily="34" charset="0"/>
                  </a:rPr>
                  <a:t>O objetivo principal do presente trabalho foi estimar as propriedades dos materiais via equação diferencial de Darcy para fluxo transiente em 1 dimensão. </a:t>
                </a:r>
              </a:p>
              <a:p>
                <a:pPr algn="just">
                  <a:lnSpc>
                    <a:spcPct val="100000"/>
                  </a:lnSpc>
                </a:pPr>
                <a:endParaRPr lang="pt-BR" sz="2400" dirty="0">
                  <a:latin typeface="Century Gothic" panose="020B0502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pt-BR" sz="2400" dirty="0">
                  <a:latin typeface="Century Gothic" panose="020B0502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pt-BR" sz="2400" dirty="0">
                  <a:latin typeface="Century Gothic" panose="020B0502020202020204" pitchFamily="34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pt-BR" sz="1800" dirty="0">
                    <a:latin typeface="Century Gothic" panose="020B0502020202020204" pitchFamily="34" charset="0"/>
                  </a:rPr>
                  <a:t>onde </a:t>
                </a: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sz="1800" dirty="0">
                    <a:latin typeface="Century Gothic" panose="020B0502020202020204" pitchFamily="34" charset="0"/>
                  </a:rPr>
                  <a:t> é a porosidade do meio (adimensional), </a:t>
                </a: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sz="1800" dirty="0">
                    <a:latin typeface="Century Gothic" panose="020B0502020202020204" pitchFamily="34" charset="0"/>
                  </a:rPr>
                  <a:t> é a compressibilidade total – fluido mais matriz – (Pa</a:t>
                </a:r>
                <a:r>
                  <a:rPr lang="pt-BR" sz="1800" baseline="30000" dirty="0">
                    <a:latin typeface="Century Gothic" panose="020B0502020202020204" pitchFamily="34" charset="0"/>
                  </a:rPr>
                  <a:t>-1</a:t>
                </a:r>
                <a:r>
                  <a:rPr lang="pt-BR" sz="1800" dirty="0">
                    <a:latin typeface="Century Gothic" panose="020B0502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1800" dirty="0">
                    <a:latin typeface="Century Gothic" panose="020B0502020202020204" pitchFamily="34" charset="0"/>
                  </a:rPr>
                  <a:t> é a permeabilidade (m²) e </a:t>
                </a:r>
                <a14:m>
                  <m:oMath xmlns:m="http://schemas.openxmlformats.org/officeDocument/2006/math">
                    <m:r>
                      <a:rPr lang="pt-BR" sz="18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1800" dirty="0">
                    <a:latin typeface="Century Gothic" panose="020B0502020202020204" pitchFamily="34" charset="0"/>
                  </a:rPr>
                  <a:t> é a viscosidade do fluido (</a:t>
                </a:r>
                <a:r>
                  <a:rPr lang="pt-BR" sz="1800" dirty="0" err="1">
                    <a:latin typeface="Century Gothic" panose="020B0502020202020204" pitchFamily="34" charset="0"/>
                  </a:rPr>
                  <a:t>Pa.s</a:t>
                </a:r>
                <a:r>
                  <a:rPr lang="pt-BR" sz="1800" dirty="0">
                    <a:latin typeface="Century Gothic" panose="020B0502020202020204" pitchFamily="34" charset="0"/>
                  </a:rPr>
                  <a:t>).</a:t>
                </a:r>
              </a:p>
              <a:p>
                <a:pPr algn="just">
                  <a:lnSpc>
                    <a:spcPct val="100000"/>
                  </a:lnSpc>
                </a:pPr>
                <a:endParaRPr lang="pt-BR" sz="24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1508CF5-9015-5405-4A9A-58DB57665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 r="-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C7E2EF2A-F3C6-59CA-50D9-06439157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318" y="3285890"/>
            <a:ext cx="2246331" cy="93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86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CB05-4312-10D9-0752-3F9CDC0B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4745E-30E0-62AE-6FF8-49163B3F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Método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90771-6375-6CD7-D610-C59780C9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Para geração dos pontos de treino foi utilizada a seguinte equação analítica, com 100 termos no somatório infinito.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C434E94-906D-D5F2-9719-17BFBEBE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14" y="3028893"/>
            <a:ext cx="6895971" cy="101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8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246B-C7B8-52EF-EE5F-C68DB1EC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7B895-DC05-1591-DDF1-E84D8891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Método</a:t>
            </a:r>
            <a:endParaRPr lang="pt-BR" dirty="0"/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33B51D4E-F016-05B8-E6D0-7D2DDC869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350" y="2310370"/>
            <a:ext cx="6030167" cy="338184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983E549-98CF-9A09-1777-26E1B73E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17" y="2141319"/>
            <a:ext cx="5497572" cy="37199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2BAFA1-D625-E4DA-A8D6-DBED2BC53BC2}"/>
              </a:ext>
            </a:extLst>
          </p:cNvPr>
          <p:cNvSpPr txBox="1"/>
          <p:nvPr/>
        </p:nvSpPr>
        <p:spPr>
          <a:xfrm>
            <a:off x="2215300" y="1856513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Parâmetros fictícios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7EC2C6-7792-4D31-A116-30648A190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199" y="2986038"/>
            <a:ext cx="254864" cy="18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88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CB79-1624-DE3F-5EBA-C8624010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ACC5D-D49A-E916-8C49-0E361067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Método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9E2511-D65B-0516-8601-7E3CC645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O fluxo de trabalho foi dividido em duas partes:</a:t>
            </a:r>
          </a:p>
          <a:p>
            <a:endParaRPr lang="pt-BR" sz="2400" dirty="0">
              <a:latin typeface="Century Gothic" panose="020B0502020202020204" pitchFamily="34" charset="0"/>
            </a:endParaRPr>
          </a:p>
          <a:p>
            <a:pPr lvl="1"/>
            <a:r>
              <a:rPr lang="pt-BR" sz="2000" dirty="0">
                <a:latin typeface="Century Gothic" panose="020B0502020202020204" pitchFamily="34" charset="0"/>
              </a:rPr>
              <a:t>Geração de experimentos diversos: diferentes valores de tamanho de amostra, níveis de ruído, valores de pesos das funções custo e tamanho da rede; a fim de uma validação inicial da rede;</a:t>
            </a:r>
          </a:p>
          <a:p>
            <a:endParaRPr lang="pt-BR" sz="2400" dirty="0">
              <a:latin typeface="Century Gothic" panose="020B0502020202020204" pitchFamily="34" charset="0"/>
            </a:endParaRPr>
          </a:p>
          <a:p>
            <a:pPr lvl="1"/>
            <a:r>
              <a:rPr lang="pt-BR" sz="2000" dirty="0">
                <a:latin typeface="Century Gothic" panose="020B0502020202020204" pitchFamily="34" charset="0"/>
              </a:rPr>
              <a:t>Com um melhor cenário estipulado pela analise dos experimentos, foi implementada na rede neural a estimativa de coeficientes da equação diferencial, sendo escolhida a porosidade para apresentação de resultados.</a:t>
            </a:r>
          </a:p>
        </p:txBody>
      </p:sp>
    </p:spTree>
    <p:extLst>
      <p:ext uri="{BB962C8B-B14F-4D97-AF65-F5344CB8AC3E}">
        <p14:creationId xmlns:p14="http://schemas.microsoft.com/office/powerpoint/2010/main" val="1935064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68888-76AA-B664-45DA-EB3B20A4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90098-BA1D-3309-CBC1-673F0A7F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Arquitetura do código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0E174A77-B94D-0633-7E93-C2AD0592A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494" y="1775530"/>
            <a:ext cx="6835011" cy="35750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4C46129-5DAA-0855-EA75-4075CF082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424" y="5742939"/>
            <a:ext cx="9077151" cy="3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4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A600-281E-3717-FF00-7F1B30BF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C429A-9F9A-8C52-DBCF-CDED8958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Arquitetura do código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F0981D-90CB-02F0-C0C4-9B92467D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24" y="1993329"/>
            <a:ext cx="9077151" cy="386398"/>
          </a:xfrm>
          <a:prstGeom prst="rect">
            <a:avLst/>
          </a:prstGeom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8439316-4E2C-6948-7D53-433298FB8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75861" y="2682368"/>
            <a:ext cx="824027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45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5C96-1075-A34E-5EAF-35E493C2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22251-BE0B-A6F2-A183-3109985E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Arquitetura do código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7692A3-A930-6F30-7D76-603F27A2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24" y="1993329"/>
            <a:ext cx="9077151" cy="386398"/>
          </a:xfrm>
          <a:prstGeom prst="rect">
            <a:avLst/>
          </a:prstGeom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F50F8DC-F132-F10F-76BE-4C117CDD8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82368"/>
            <a:ext cx="10515600" cy="392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34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FDE2-1C8C-07BB-3C71-B1B178A5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F944F-DAB9-94C1-0621-DBC97A10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Arquitetura do código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720BEC-C313-0885-2C2E-D3273347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424" y="1993329"/>
            <a:ext cx="9077151" cy="386398"/>
          </a:xfrm>
          <a:prstGeom prst="rect">
            <a:avLst/>
          </a:prstGeom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AE579F-FE5C-BF9C-E709-7DF7942D8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9440" y="2953382"/>
            <a:ext cx="999312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81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9B91-FC78-775D-6671-0CE826B9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EA51E-3169-86BC-C60F-62D4F5B4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Arquitetura do código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814B8A4-64B4-29B1-F603-64E5B93B5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77240"/>
            <a:ext cx="4467849" cy="1848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C6AA4B9-0B54-8388-9E8A-9879F4E37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0" y="2849086"/>
            <a:ext cx="5400040" cy="230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2B1A-FF5B-55A7-DAEB-6040D67E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E4429-D6B5-076A-40D5-1965A4AD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Influência da quantidade amostras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DBAFB0-CEB1-C8F6-C2FB-C45B0A47E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Aumentar o número de amostras se mostra positivo para o treinamento da rede, apresentando melhores ajustes entre as curvas analítica e treinada em maiores tempos de simulação.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8B8326-0617-2B85-B0AF-EF2488758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25" y="2988461"/>
            <a:ext cx="5399173" cy="3504414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E091EB3-D350-3145-D7AA-0C80ECC544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536" y="2988461"/>
            <a:ext cx="5260110" cy="3450652"/>
          </a:xfrm>
          <a:prstGeom prst="rect">
            <a:avLst/>
          </a:prstGeom>
          <a:noFill/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2169244-5DD2-7829-7E27-436A0FC3A0CB}"/>
              </a:ext>
            </a:extLst>
          </p:cNvPr>
          <p:cNvSpPr txBox="1"/>
          <p:nvPr/>
        </p:nvSpPr>
        <p:spPr>
          <a:xfrm>
            <a:off x="2697386" y="644366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N = 5000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DCD0F5-0855-0DE8-5C3B-8048BECA76A6}"/>
              </a:ext>
            </a:extLst>
          </p:cNvPr>
          <p:cNvSpPr txBox="1"/>
          <p:nvPr/>
        </p:nvSpPr>
        <p:spPr>
          <a:xfrm>
            <a:off x="8282046" y="6443665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N = 10000</a:t>
            </a:r>
          </a:p>
        </p:txBody>
      </p:sp>
    </p:spTree>
    <p:extLst>
      <p:ext uri="{BB962C8B-B14F-4D97-AF65-F5344CB8AC3E}">
        <p14:creationId xmlns:p14="http://schemas.microsoft.com/office/powerpoint/2010/main" val="1572311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B1C9-8A31-9D46-E426-DB73E3F5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260AE-0414-4912-CF37-66718A49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/>
            </a:br>
            <a:r>
              <a:rPr lang="pt-BR" sz="3200" dirty="0">
                <a:latin typeface="Century Gothic" panose="020B0502020202020204" pitchFamily="34" charset="0"/>
              </a:rPr>
              <a:t>Influência do nível de ruído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C66C75-4D20-AB8C-892C-8C96A893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Observa-se maior influência em estágios finais de simulação, quando o </a:t>
            </a:r>
            <a:r>
              <a:rPr lang="pt-BR" sz="2400" dirty="0" err="1">
                <a:latin typeface="Century Gothic" panose="020B0502020202020204" pitchFamily="34" charset="0"/>
              </a:rPr>
              <a:t>steady-state</a:t>
            </a:r>
            <a:r>
              <a:rPr lang="pt-BR" sz="2400" dirty="0">
                <a:latin typeface="Century Gothic" panose="020B0502020202020204" pitchFamily="34" charset="0"/>
              </a:rPr>
              <a:t> é alcançado.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1B5522-5E9A-78F8-2106-E319B8B45334}"/>
              </a:ext>
            </a:extLst>
          </p:cNvPr>
          <p:cNvSpPr txBox="1"/>
          <p:nvPr/>
        </p:nvSpPr>
        <p:spPr>
          <a:xfrm>
            <a:off x="2326391" y="6345819"/>
            <a:ext cx="1689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Noise Factor = 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B9DF18-37AD-CEE3-7945-6E027A5C6D7A}"/>
              </a:ext>
            </a:extLst>
          </p:cNvPr>
          <p:cNvSpPr txBox="1"/>
          <p:nvPr/>
        </p:nvSpPr>
        <p:spPr>
          <a:xfrm>
            <a:off x="7808705" y="6345819"/>
            <a:ext cx="186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Noise Factor = 0.5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C882B3-4108-8DE2-95E8-643EF468F3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57" y="2683931"/>
            <a:ext cx="5552307" cy="3627969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31610B-B777-D56B-589A-C9A2EEB034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83930"/>
            <a:ext cx="5552307" cy="35914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715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A34C-19AB-C93F-0B2A-D3C4E6EB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DD41C-44F4-BC35-B3B0-BDEFBE58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/>
            </a:br>
            <a:r>
              <a:rPr lang="pt-BR" sz="3200" dirty="0">
                <a:latin typeface="Century Gothic" panose="020B0502020202020204" pitchFamily="34" charset="0"/>
              </a:rPr>
              <a:t>Influência dos pesos das funções custo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8B7898-D223-B11A-ECFF-7F0A0EFF3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Quando o peso da função custo da condição de contorno é muito maior do que as demais, melhor ajuste é obtido na condição de contorno esquerda em tempo zero.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A9BD1B-F39B-725B-184C-AEE014E68AD8}"/>
              </a:ext>
            </a:extLst>
          </p:cNvPr>
          <p:cNvSpPr txBox="1"/>
          <p:nvPr/>
        </p:nvSpPr>
        <p:spPr>
          <a:xfrm>
            <a:off x="1961345" y="6365284"/>
            <a:ext cx="284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BCs</a:t>
            </a:r>
            <a:r>
              <a:rPr lang="pt-BR" dirty="0"/>
              <a:t> = 1000 - IC = 50 - ED = 1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A50AA76-69EE-DA24-BD8D-E333D00E4451}"/>
              </a:ext>
            </a:extLst>
          </p:cNvPr>
          <p:cNvSpPr txBox="1"/>
          <p:nvPr/>
        </p:nvSpPr>
        <p:spPr>
          <a:xfrm>
            <a:off x="6962235" y="6365284"/>
            <a:ext cx="30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BCs</a:t>
            </a:r>
            <a:r>
              <a:rPr lang="pt-BR" dirty="0"/>
              <a:t> = 1000 - IC = 500 - ED = 10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60D515-B152-9B59-7D33-C57D37537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91" y="3077770"/>
            <a:ext cx="5033963" cy="3237176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6F0713-E488-5328-2FE5-7255243584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77771"/>
            <a:ext cx="4925633" cy="3234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7225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D0C1-6E9B-BDDD-5235-336F2129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D0FC7-DFA7-8130-4357-F81FECE5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Influência do tamanho da rede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5C3196-CCDC-36C5-8071-12F80974E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A utilização de redes mais largas ou com mais neurônios não se mostrou mais eficiente. A utilização da rede em formato triangular não se mostrou eficiente para este caso.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5110AB-EFB7-70BB-F75F-15B1CE8EBFCF}"/>
              </a:ext>
            </a:extLst>
          </p:cNvPr>
          <p:cNvSpPr txBox="1"/>
          <p:nvPr/>
        </p:nvSpPr>
        <p:spPr>
          <a:xfrm>
            <a:off x="2033501" y="6397442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[50, 50, 50, 50, 50, 50]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CEA47D-F8FF-0BE2-55B9-CA2FA24E1EEF}"/>
              </a:ext>
            </a:extLst>
          </p:cNvPr>
          <p:cNvSpPr txBox="1"/>
          <p:nvPr/>
        </p:nvSpPr>
        <p:spPr>
          <a:xfrm>
            <a:off x="7848673" y="6397442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[100, 50, 25, 5]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365D5F-BA23-D2C6-8F02-D2B66557C1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80" y="2932408"/>
            <a:ext cx="5120499" cy="3430127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086EC00-FB08-760F-E73D-B378F411C2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483" y="2932407"/>
            <a:ext cx="5187317" cy="3462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115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204B-D9BE-A96C-9595-9225A53B9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031E1-C349-A792-86F5-CADB322E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>
                <a:latin typeface="Century Gothic" panose="020B0502020202020204" pitchFamily="34" charset="0"/>
              </a:rPr>
              <a:t>Influência do tipo de função de ativação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251585-AE4C-3771-2CEB-545BE88BB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As funções </a:t>
            </a:r>
            <a:r>
              <a:rPr lang="pt-BR" sz="2400" dirty="0" err="1">
                <a:latin typeface="Century Gothic" panose="020B0502020202020204" pitchFamily="34" charset="0"/>
              </a:rPr>
              <a:t>ReLU</a:t>
            </a:r>
            <a:r>
              <a:rPr lang="pt-BR" sz="2400" dirty="0">
                <a:latin typeface="Century Gothic" panose="020B0502020202020204" pitchFamily="34" charset="0"/>
              </a:rPr>
              <a:t> e </a:t>
            </a:r>
            <a:r>
              <a:rPr lang="pt-BR" sz="2400" dirty="0" err="1">
                <a:latin typeface="Century Gothic" panose="020B0502020202020204" pitchFamily="34" charset="0"/>
              </a:rPr>
              <a:t>LeakyReLU</a:t>
            </a:r>
            <a:r>
              <a:rPr lang="pt-BR" sz="2400" dirty="0">
                <a:latin typeface="Century Gothic" panose="020B0502020202020204" pitchFamily="34" charset="0"/>
              </a:rPr>
              <a:t> não conseguiram realizar o treinamento para dependência de tempo. Sigmoide mostrou bom resultado.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081353-EC68-883A-F814-E300847D8030}"/>
              </a:ext>
            </a:extLst>
          </p:cNvPr>
          <p:cNvSpPr txBox="1"/>
          <p:nvPr/>
        </p:nvSpPr>
        <p:spPr>
          <a:xfrm>
            <a:off x="2487410" y="6455167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Century Gothic" panose="020B0502020202020204" pitchFamily="34" charset="0"/>
              </a:rPr>
              <a:t>ReLU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F02AA0-B65C-AC57-F959-7F962F243D68}"/>
              </a:ext>
            </a:extLst>
          </p:cNvPr>
          <p:cNvSpPr txBox="1"/>
          <p:nvPr/>
        </p:nvSpPr>
        <p:spPr>
          <a:xfrm>
            <a:off x="8342046" y="6455167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entury Gothic" panose="020B0502020202020204" pitchFamily="34" charset="0"/>
              </a:rPr>
              <a:t>Sigmoide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B8804D-011E-7469-D475-6F222E8D41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75" y="3016932"/>
            <a:ext cx="5130802" cy="343823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C55F467-867B-0319-F8FB-AE69FE830B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87" y="3016932"/>
            <a:ext cx="5205344" cy="34759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468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A9A9-E20E-EED0-1304-2EA8B336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39C74-1717-C004-057F-F1D895EC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 err="1">
                <a:latin typeface="Century Gothic" panose="020B0502020202020204" pitchFamily="34" charset="0"/>
              </a:rPr>
              <a:t>Parameter</a:t>
            </a:r>
            <a:r>
              <a:rPr lang="pt-BR" sz="3200" dirty="0">
                <a:latin typeface="Century Gothic" panose="020B0502020202020204" pitchFamily="34" charset="0"/>
              </a:rPr>
              <a:t> </a:t>
            </a:r>
            <a:r>
              <a:rPr lang="pt-BR" sz="3200" dirty="0" err="1">
                <a:latin typeface="Century Gothic" panose="020B0502020202020204" pitchFamily="34" charset="0"/>
              </a:rPr>
              <a:t>discovery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476D79-3053-9B52-4B41-FC4A360A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Com os treinamentos realizados, foi idealizado um caso base para realização da estimativa da porosidade.</a:t>
            </a:r>
          </a:p>
          <a:p>
            <a:endParaRPr lang="pt-BR" dirty="0">
              <a:latin typeface="Century Gothic" panose="020B0502020202020204" pitchFamily="34" charset="0"/>
            </a:endParaRPr>
          </a:p>
          <a:p>
            <a:r>
              <a:rPr lang="pt-BR" dirty="0">
                <a:latin typeface="Century Gothic" panose="020B0502020202020204" pitchFamily="34" charset="0"/>
              </a:rPr>
              <a:t> Buscou-se um caso que mescla os bons comportamentos observados em cada experimento.</a:t>
            </a:r>
          </a:p>
        </p:txBody>
      </p:sp>
    </p:spTree>
    <p:extLst>
      <p:ext uri="{BB962C8B-B14F-4D97-AF65-F5344CB8AC3E}">
        <p14:creationId xmlns:p14="http://schemas.microsoft.com/office/powerpoint/2010/main" val="2023569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43F6-EE3F-84C8-B94A-E01DB7C8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8126C-170B-A2C2-A0BF-05A57252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 err="1">
                <a:latin typeface="Century Gothic" panose="020B0502020202020204" pitchFamily="34" charset="0"/>
              </a:rPr>
              <a:t>Parameter</a:t>
            </a:r>
            <a:r>
              <a:rPr lang="pt-BR" sz="3200" dirty="0">
                <a:latin typeface="Century Gothic" panose="020B0502020202020204" pitchFamily="34" charset="0"/>
              </a:rPr>
              <a:t> </a:t>
            </a:r>
            <a:r>
              <a:rPr lang="pt-BR" sz="3200" dirty="0" err="1">
                <a:latin typeface="Century Gothic" panose="020B0502020202020204" pitchFamily="34" charset="0"/>
              </a:rPr>
              <a:t>discovery</a:t>
            </a:r>
            <a:endParaRPr lang="pt-BR" dirty="0">
              <a:latin typeface="Century Gothic" panose="020B0502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C3B548-7DC4-A66F-AA84-87F3294C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71" y="2565104"/>
            <a:ext cx="5389212" cy="243797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60AB34D-3BB8-9A0A-A470-7A5F211BA3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11" y="1764904"/>
            <a:ext cx="6196013" cy="4038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4661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AD21-65DE-89EF-AC9A-C3A82AEB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ECA52-A869-68AD-736D-F4DA09AF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 err="1">
                <a:latin typeface="Century Gothic" panose="020B0502020202020204" pitchFamily="34" charset="0"/>
              </a:rPr>
              <a:t>Parameter</a:t>
            </a:r>
            <a:r>
              <a:rPr lang="pt-BR" sz="3200" dirty="0">
                <a:latin typeface="Century Gothic" panose="020B0502020202020204" pitchFamily="34" charset="0"/>
              </a:rPr>
              <a:t> </a:t>
            </a:r>
            <a:r>
              <a:rPr lang="pt-BR" sz="3200" dirty="0" err="1">
                <a:latin typeface="Century Gothic" panose="020B0502020202020204" pitchFamily="34" charset="0"/>
              </a:rPr>
              <a:t>discovery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A2D448-2B76-5BC4-E472-DB238A9F8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7309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Century Gothic" panose="020B0502020202020204" pitchFamily="34" charset="0"/>
              </a:rPr>
              <a:t>Entretanto, mesmo assim o </a:t>
            </a:r>
            <a:r>
              <a:rPr lang="pt-BR" sz="2400" dirty="0" err="1">
                <a:latin typeface="Century Gothic" panose="020B0502020202020204" pitchFamily="34" charset="0"/>
              </a:rPr>
              <a:t>parameter</a:t>
            </a:r>
            <a:r>
              <a:rPr lang="pt-BR" sz="2400" dirty="0">
                <a:latin typeface="Century Gothic" panose="020B0502020202020204" pitchFamily="34" charset="0"/>
              </a:rPr>
              <a:t> </a:t>
            </a:r>
            <a:r>
              <a:rPr lang="pt-BR" sz="2400" dirty="0" err="1">
                <a:latin typeface="Century Gothic" panose="020B0502020202020204" pitchFamily="34" charset="0"/>
              </a:rPr>
              <a:t>discovery</a:t>
            </a:r>
            <a:r>
              <a:rPr lang="pt-BR" sz="2400" dirty="0">
                <a:latin typeface="Century Gothic" panose="020B0502020202020204" pitchFamily="34" charset="0"/>
              </a:rPr>
              <a:t> não resultou em um coeficiente físico ou similar de porosidade. A porosidade estimada foi 4.656.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60DDC4-BBB5-FC0C-22DC-496B8A26A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509" y="1825625"/>
            <a:ext cx="6009728" cy="3953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9247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B20C-86E0-ED34-18CD-3222D421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42D25-55C4-1F9B-1FA4-83B3EF19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 err="1">
                <a:latin typeface="Century Gothic" panose="020B0502020202020204" pitchFamily="34" charset="0"/>
              </a:rPr>
              <a:t>Parameter</a:t>
            </a:r>
            <a:r>
              <a:rPr lang="pt-BR" sz="3200" dirty="0">
                <a:latin typeface="Century Gothic" panose="020B0502020202020204" pitchFamily="34" charset="0"/>
              </a:rPr>
              <a:t> </a:t>
            </a:r>
            <a:r>
              <a:rPr lang="pt-BR" sz="3200" dirty="0" err="1">
                <a:latin typeface="Century Gothic" panose="020B0502020202020204" pitchFamily="34" charset="0"/>
              </a:rPr>
              <a:t>discovery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403364B-3842-01DD-3932-D7A18EBF9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02663"/>
            <a:ext cx="5084505" cy="3054361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371080-155D-3331-3FDF-2475534416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97" y="2302662"/>
            <a:ext cx="5083200" cy="3053706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1421BB-8DA4-6C57-AB1F-E6F8A06FD18E}"/>
              </a:ext>
            </a:extLst>
          </p:cNvPr>
          <p:cNvSpPr txBox="1"/>
          <p:nvPr/>
        </p:nvSpPr>
        <p:spPr>
          <a:xfrm>
            <a:off x="2547132" y="5356368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Pesos</a:t>
            </a:r>
          </a:p>
          <a:p>
            <a:pPr algn="ctr"/>
            <a:r>
              <a:rPr lang="pt-BR" dirty="0" err="1"/>
              <a:t>BCs</a:t>
            </a:r>
            <a:r>
              <a:rPr lang="pt-BR" dirty="0"/>
              <a:t> = 1000 - IC = 50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6E7C27A-9179-133F-5982-1BB8FFFBAA01}"/>
              </a:ext>
            </a:extLst>
          </p:cNvPr>
          <p:cNvSpPr txBox="1"/>
          <p:nvPr/>
        </p:nvSpPr>
        <p:spPr>
          <a:xfrm>
            <a:off x="7798440" y="5356368"/>
            <a:ext cx="2199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Pesos</a:t>
            </a:r>
          </a:p>
          <a:p>
            <a:pPr algn="ctr"/>
            <a:r>
              <a:rPr lang="pt-BR" dirty="0" err="1"/>
              <a:t>BCs</a:t>
            </a:r>
            <a:r>
              <a:rPr lang="pt-BR" dirty="0"/>
              <a:t> = 1000 - IC = 0.01</a:t>
            </a:r>
          </a:p>
        </p:txBody>
      </p:sp>
    </p:spTree>
    <p:extLst>
      <p:ext uri="{BB962C8B-B14F-4D97-AF65-F5344CB8AC3E}">
        <p14:creationId xmlns:p14="http://schemas.microsoft.com/office/powerpoint/2010/main" val="1571179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A992-B7B3-52BB-1198-D1729821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3D274-8C73-E092-82D3-AC6FC4A4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entury Gothic" panose="020B0502020202020204" pitchFamily="34" charset="0"/>
              </a:rPr>
              <a:t>Tarefa 2: PINN</a:t>
            </a:r>
            <a:br>
              <a:rPr lang="pt-BR" dirty="0">
                <a:latin typeface="Century Gothic" panose="020B0502020202020204" pitchFamily="34" charset="0"/>
              </a:rPr>
            </a:br>
            <a:r>
              <a:rPr lang="pt-BR" sz="3200" dirty="0" err="1">
                <a:latin typeface="Century Gothic" panose="020B0502020202020204" pitchFamily="34" charset="0"/>
              </a:rPr>
              <a:t>Parameter</a:t>
            </a:r>
            <a:r>
              <a:rPr lang="pt-BR" sz="3200" dirty="0">
                <a:latin typeface="Century Gothic" panose="020B0502020202020204" pitchFamily="34" charset="0"/>
              </a:rPr>
              <a:t> </a:t>
            </a:r>
            <a:r>
              <a:rPr lang="pt-BR" sz="3200" dirty="0" err="1">
                <a:latin typeface="Century Gothic" panose="020B0502020202020204" pitchFamily="34" charset="0"/>
              </a:rPr>
              <a:t>discovery</a:t>
            </a:r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4F6DC2CA-DDBF-6B5F-E15F-0DF70DE2832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latin typeface="Century Gothic" panose="020B0502020202020204" pitchFamily="34" charset="0"/>
              </a:rPr>
              <a:t>Não foi possível encontrar um bom ajuste para a estimativa da porosidade. Isso ocorre, possivelmente, devido a alta não linearidade observada na dependência do tempo.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BF64139-7534-F79F-571B-366BAF5E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61588"/>
            <a:ext cx="5072707" cy="343246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F63639E-2CEC-18F2-D79E-EC973B53F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9" y="2907488"/>
            <a:ext cx="4197091" cy="368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85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1221</Words>
  <Application>Microsoft Office PowerPoint</Application>
  <PresentationFormat>Widescreen</PresentationFormat>
  <Paragraphs>100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Century Gothic</vt:lpstr>
      <vt:lpstr>Tema do Office</vt:lpstr>
      <vt:lpstr>Projeto 2 do Curso: IA Aplicada a Problemas de Engenharia</vt:lpstr>
      <vt:lpstr>Tarefa 1: Rede Neural e Dropout </vt:lpstr>
      <vt:lpstr>Tarefa 1: Rede Neural e Dropout Implementação</vt:lpstr>
      <vt:lpstr>Apresentação do PowerPoint</vt:lpstr>
      <vt:lpstr>Apresentação do PowerPoint</vt:lpstr>
      <vt:lpstr>Tarefa 1: Rede Neural e Dropout Resultados – Primeira função sem Dropout</vt:lpstr>
      <vt:lpstr>Tarefa 1: Rede Neural e Dropout Resultados – Primeira função sem Dropout</vt:lpstr>
      <vt:lpstr>Tarefa 1: Rede Neural e Dropout Resultados – Primeira função Dropout 0.2 na primeira camada</vt:lpstr>
      <vt:lpstr>Tarefa 1: Rede Neural e Dropout Resultados – Primeira função Dropout 0.2 na primeira camada</vt:lpstr>
      <vt:lpstr>Tarefa 1: Rede Neural e Dropout Resultados – Primeira função Dropout 0.2 em todas camadas</vt:lpstr>
      <vt:lpstr>Tarefa 1: Rede Neural e Dropout Resultados – Primeira função Dropout 0.2 na primeira camada</vt:lpstr>
      <vt:lpstr>Tarefa 1: Rede Neural e Dropout Resultados – Segunda função Sem Dropout</vt:lpstr>
      <vt:lpstr>Tarefa 1: Rede Neural e Dropout Resultados – Segunda função Sem Dropout</vt:lpstr>
      <vt:lpstr>Tarefa 1: Rede Neural e Dropout Resultados – Segunda função com Dropout</vt:lpstr>
      <vt:lpstr>Tarefa 1: Rede Neural e Dropout Resultados – Segunda função com Dropout 0.8 na primeira camada</vt:lpstr>
      <vt:lpstr>Tarefa 1: Rede Neural e Dropout Resultados – Segunda função Dropout na ultima camada</vt:lpstr>
      <vt:lpstr>Tarefa 1: Rede Neural e Dropout Resultados – Segunda função Dropout na ultima camada</vt:lpstr>
      <vt:lpstr>Tarefa 1: Rede Neural e Dropout Conclusão</vt:lpstr>
      <vt:lpstr>Tarefa 2: PINN Método</vt:lpstr>
      <vt:lpstr>Tarefa 2: PINN Método</vt:lpstr>
      <vt:lpstr>Tarefa 2: PINN Método</vt:lpstr>
      <vt:lpstr>Tarefa 2: PINN Método</vt:lpstr>
      <vt:lpstr>Tarefa 2: PINN Arquitetura do código</vt:lpstr>
      <vt:lpstr>Tarefa 2: PINN Arquitetura do código</vt:lpstr>
      <vt:lpstr>Tarefa 2: PINN Arquitetura do código</vt:lpstr>
      <vt:lpstr>Tarefa 2: PINN Arquitetura do código</vt:lpstr>
      <vt:lpstr>Tarefa 2: PINN Arquitetura do código</vt:lpstr>
      <vt:lpstr>Tarefa 2: PINN Influência da quantidade amostras</vt:lpstr>
      <vt:lpstr>Tarefa 2: PINN Influência do nível de ruído</vt:lpstr>
      <vt:lpstr>Tarefa 2: PINN Influência dos pesos das funções custo</vt:lpstr>
      <vt:lpstr>Tarefa 2: PINN Influência do tamanho da rede</vt:lpstr>
      <vt:lpstr>Tarefa 2: PINN Influência do tipo de função de ativação</vt:lpstr>
      <vt:lpstr>Tarefa 2: PINN Parameter discovery</vt:lpstr>
      <vt:lpstr>Tarefa 2: PINN Parameter discovery</vt:lpstr>
      <vt:lpstr>Tarefa 2: PINN Parameter discovery</vt:lpstr>
      <vt:lpstr>Tarefa 2: PINN Parameter discovery</vt:lpstr>
      <vt:lpstr>Tarefa 2: PINN Parameter discovery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Felipe</dc:creator>
  <cp:lastModifiedBy>Gabriel Silva</cp:lastModifiedBy>
  <cp:revision>23</cp:revision>
  <dcterms:created xsi:type="dcterms:W3CDTF">2025-12-02T03:01:12Z</dcterms:created>
  <dcterms:modified xsi:type="dcterms:W3CDTF">2025-12-02T16:04:10Z</dcterms:modified>
</cp:coreProperties>
</file>